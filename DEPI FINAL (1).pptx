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Montserrat Bold" charset="1" panose="00000800000000000000"/>
      <p:regular r:id="rId43"/>
    </p:embeddedFont>
    <p:embeddedFont>
      <p:font typeface="Montserrat" charset="1" panose="00000500000000000000"/>
      <p:regular r:id="rId44"/>
    </p:embeddedFont>
    <p:embeddedFont>
      <p:font typeface="Poppins Bold" charset="1" panose="000008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80698" y="2327999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499" y="0"/>
                </a:moveTo>
                <a:lnTo>
                  <a:pt x="0" y="0"/>
                </a:lnTo>
                <a:lnTo>
                  <a:pt x="0" y="6930301"/>
                </a:lnTo>
                <a:lnTo>
                  <a:pt x="6892499" y="6930301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49763" y="2327999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499" y="0"/>
                </a:moveTo>
                <a:lnTo>
                  <a:pt x="0" y="0"/>
                </a:lnTo>
                <a:lnTo>
                  <a:pt x="0" y="6930301"/>
                </a:lnTo>
                <a:lnTo>
                  <a:pt x="6892499" y="6930301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</a:blip>
              <a:stretch>
                <a:fillRect l="-28076" t="0" r="-28075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92510" y="1041084"/>
            <a:ext cx="9489359" cy="56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6"/>
              </a:lnSpc>
            </a:pPr>
            <a:r>
              <a:rPr lang="en-US" sz="6019" spc="-3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Decoding the </a:t>
            </a:r>
            <a:r>
              <a:rPr lang="en-US" b="true" sz="6019" spc="-3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Washington Cannabis</a:t>
            </a:r>
            <a:r>
              <a:rPr lang="en-US" sz="6019" spc="-3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6019" spc="-3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</a:t>
            </a:r>
            <a:r>
              <a:rPr lang="en-US" sz="6019" spc="-3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algn="l">
              <a:lnSpc>
                <a:spcPts val="10004"/>
              </a:lnSpc>
            </a:pPr>
            <a:r>
              <a:rPr lang="en-US" sz="5378" spc="-3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Raw Data to Strategic</a:t>
            </a:r>
          </a:p>
          <a:p>
            <a:pPr algn="just">
              <a:lnSpc>
                <a:spcPts val="10004"/>
              </a:lnSpc>
            </a:pPr>
            <a:r>
              <a:rPr lang="en-US" sz="5378" spc="-3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2510" y="7208160"/>
            <a:ext cx="9489359" cy="221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6"/>
              </a:lnSpc>
            </a:pPr>
            <a:r>
              <a:rPr lang="en-US" b="true" sz="2485" spc="3">
                <a:solidFill>
                  <a:srgbClr val="B6CDD3"/>
                </a:solidFill>
                <a:latin typeface="Poppins Bold"/>
                <a:ea typeface="Poppins Bold"/>
                <a:cs typeface="Poppins Bold"/>
                <a:sym typeface="Poppins Bold"/>
              </a:rPr>
              <a:t>A focused analysis of Washington State’s cannabis market, one of the world’s most mature and tightly regulated industries.</a:t>
            </a:r>
          </a:p>
          <a:p>
            <a:pPr algn="just">
              <a:lnSpc>
                <a:spcPts val="417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30841" y="424198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2621765" y="0"/>
                </a:moveTo>
                <a:lnTo>
                  <a:pt x="0" y="0"/>
                </a:lnTo>
                <a:lnTo>
                  <a:pt x="0" y="2636144"/>
                </a:lnTo>
                <a:lnTo>
                  <a:pt x="2621765" y="2636144"/>
                </a:lnTo>
                <a:lnTo>
                  <a:pt x="2621765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9940" y="2504190"/>
            <a:ext cx="5264610" cy="5312267"/>
            <a:chOff x="0" y="0"/>
            <a:chExt cx="7019480" cy="7083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9417" cy="7083044"/>
            </a:xfrm>
            <a:custGeom>
              <a:avLst/>
              <a:gdLst/>
              <a:ahLst/>
              <a:cxnLst/>
              <a:rect r="r" b="b" t="t" l="l"/>
              <a:pathLst>
                <a:path h="7083044" w="7019417">
                  <a:moveTo>
                    <a:pt x="7019417" y="695579"/>
                  </a:moveTo>
                  <a:lnTo>
                    <a:pt x="7019417" y="2946527"/>
                  </a:lnTo>
                  <a:cubicBezTo>
                    <a:pt x="7019417" y="3147695"/>
                    <a:pt x="6885051" y="3338957"/>
                    <a:pt x="6653023" y="3472053"/>
                  </a:cubicBezTo>
                  <a:cubicBezTo>
                    <a:pt x="6421120" y="3603752"/>
                    <a:pt x="6286627" y="3795014"/>
                    <a:pt x="6286627" y="3997579"/>
                  </a:cubicBezTo>
                  <a:lnTo>
                    <a:pt x="6286627" y="6387465"/>
                  </a:lnTo>
                  <a:cubicBezTo>
                    <a:pt x="6286627" y="6771386"/>
                    <a:pt x="5809742" y="7083044"/>
                    <a:pt x="5222240" y="7083044"/>
                  </a:cubicBezTo>
                  <a:lnTo>
                    <a:pt x="1064387" y="7083044"/>
                  </a:lnTo>
                  <a:cubicBezTo>
                    <a:pt x="476885" y="7083044"/>
                    <a:pt x="0" y="6771386"/>
                    <a:pt x="0" y="6387465"/>
                  </a:cubicBezTo>
                  <a:lnTo>
                    <a:pt x="0" y="695579"/>
                  </a:lnTo>
                  <a:cubicBezTo>
                    <a:pt x="0" y="311658"/>
                    <a:pt x="476885" y="0"/>
                    <a:pt x="1064387" y="0"/>
                  </a:cubicBezTo>
                  <a:lnTo>
                    <a:pt x="5957189" y="0"/>
                  </a:lnTo>
                  <a:cubicBezTo>
                    <a:pt x="6544691" y="0"/>
                    <a:pt x="7019417" y="311658"/>
                    <a:pt x="7019417" y="695579"/>
                  </a:cubicBezTo>
                  <a:lnTo>
                    <a:pt x="0" y="0"/>
                  </a:lnTo>
                  <a:cubicBezTo>
                    <a:pt x="0" y="0"/>
                    <a:pt x="7019417" y="695579"/>
                    <a:pt x="7019417" y="695579"/>
                  </a:cubicBezTo>
                  <a:close/>
                </a:path>
              </a:pathLst>
            </a:custGeom>
            <a:blipFill>
              <a:blip r:embed="rId6"/>
              <a:stretch>
                <a:fillRect l="-25748" t="0" r="-2574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473067" y="8492858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0" y="0"/>
                </a:moveTo>
                <a:lnTo>
                  <a:pt x="2621765" y="0"/>
                </a:lnTo>
                <a:lnTo>
                  <a:pt x="2621765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11017" y="8492858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0" y="0"/>
                </a:moveTo>
                <a:lnTo>
                  <a:pt x="2621765" y="0"/>
                </a:lnTo>
                <a:lnTo>
                  <a:pt x="2621765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65486" y="6064014"/>
            <a:ext cx="1510177" cy="1510177"/>
          </a:xfrm>
          <a:custGeom>
            <a:avLst/>
            <a:gdLst/>
            <a:ahLst/>
            <a:cxnLst/>
            <a:rect r="r" b="b" t="t" l="l"/>
            <a:pathLst>
              <a:path h="1510177" w="1510177">
                <a:moveTo>
                  <a:pt x="0" y="0"/>
                </a:moveTo>
                <a:lnTo>
                  <a:pt x="1510177" y="0"/>
                </a:lnTo>
                <a:lnTo>
                  <a:pt x="1510177" y="1510177"/>
                </a:lnTo>
                <a:lnTo>
                  <a:pt x="0" y="1510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0380" y="2008890"/>
            <a:ext cx="368569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Goal: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95804" y="3082039"/>
            <a:ext cx="8261268" cy="207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98"/>
              </a:lnSpc>
            </a:pPr>
            <a:r>
              <a:rPr lang="en-US" sz="2926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Turning complex, high-volume market data into clear, actionable insights for stakeholders, supply-chain teams, and investors.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40380" y="5568714"/>
            <a:ext cx="465746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Analytical Pillars: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1782" y="6171402"/>
            <a:ext cx="8261268" cy="286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194" indent="-223065" lvl="2">
              <a:lnSpc>
                <a:spcPts val="6996"/>
              </a:lnSpc>
              <a:buAutoNum type="arabicPeriod" startAt="1"/>
            </a:pPr>
            <a:r>
              <a:rPr lang="en-US" sz="2926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Product Quality &amp; Compliance</a:t>
            </a:r>
          </a:p>
          <a:p>
            <a:pPr algn="just" marL="669194" indent="-223065" lvl="2">
              <a:lnSpc>
                <a:spcPts val="6996"/>
              </a:lnSpc>
              <a:buAutoNum type="arabicPeriod" startAt="1"/>
            </a:pPr>
            <a:r>
              <a:rPr lang="en-US" sz="2926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Financial Efficiency &amp; Inventory Risk</a:t>
            </a:r>
          </a:p>
          <a:p>
            <a:pPr algn="just" marL="669194" indent="-223065" lvl="2">
              <a:lnSpc>
                <a:spcPts val="6996"/>
              </a:lnSpc>
              <a:buAutoNum type="arabicPeriod" startAt="1"/>
            </a:pPr>
            <a:r>
              <a:rPr lang="en-US" sz="2926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 Dynamics &amp; Market Trends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0041" y="4305300"/>
            <a:ext cx="950511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Risk Management (FRM):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041" y="1520113"/>
            <a:ext cx="843037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&amp; Standards Analysis: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7718" y="3004400"/>
            <a:ext cx="10358861" cy="8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3"/>
              </a:lnSpc>
            </a:pPr>
            <a:r>
              <a:rPr lang="en-US" sz="2799" spc="5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Understanding </a:t>
            </a:r>
            <a:r>
              <a:rPr lang="en-US" b="true" sz="2799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potency trends (THC vs. CBD)</a:t>
            </a:r>
            <a:r>
              <a:rPr lang="en-US" sz="2799" spc="5">
                <a:solidFill>
                  <a:srgbClr val="F7447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spc="5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-US" b="true" sz="2799" spc="5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laboratory testing priorities.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210843" y="235831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32782" y="9258300"/>
            <a:ext cx="1555629" cy="1555629"/>
          </a:xfrm>
          <a:custGeom>
            <a:avLst/>
            <a:gdLst/>
            <a:ahLst/>
            <a:cxnLst/>
            <a:rect r="r" b="b" t="t" l="l"/>
            <a:pathLst>
              <a:path h="1555629" w="1555629">
                <a:moveTo>
                  <a:pt x="0" y="0"/>
                </a:moveTo>
                <a:lnTo>
                  <a:pt x="1555629" y="0"/>
                </a:lnTo>
                <a:lnTo>
                  <a:pt x="1555629" y="1555629"/>
                </a:lnTo>
                <a:lnTo>
                  <a:pt x="0" y="155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59768" y="2227862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5829300"/>
            <a:ext cx="9197556" cy="82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2744" spc="4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Evaluating inventory valuation </a:t>
            </a:r>
            <a:r>
              <a:rPr lang="en-US" sz="2744" spc="4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and identifying capital risks </a:t>
            </a:r>
            <a:r>
              <a:rPr lang="en-US" b="true" sz="2744" spc="4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associated with perishable goods.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0041" y="7191506"/>
            <a:ext cx="87969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Dynamics &amp; Trends: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7718" y="8601206"/>
            <a:ext cx="9197556" cy="123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b="true" sz="2744" spc="4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Tracking the evolution of sales</a:t>
            </a:r>
            <a:r>
              <a:rPr lang="en-US" sz="2744" spc="4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744" spc="4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identifying dominant strains</a:t>
            </a:r>
            <a:r>
              <a:rPr lang="en-US" sz="2744" spc="4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, and</a:t>
            </a:r>
            <a:r>
              <a:rPr lang="en-US" b="true" sz="2744" spc="4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44" spc="4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analyzing consumer behavior shifts.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149515" y="5918280"/>
            <a:ext cx="3823418" cy="3844387"/>
          </a:xfrm>
          <a:custGeom>
            <a:avLst/>
            <a:gdLst/>
            <a:ahLst/>
            <a:cxnLst/>
            <a:rect r="r" b="b" t="t" l="l"/>
            <a:pathLst>
              <a:path h="3844387" w="3823418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843195" y="5918280"/>
            <a:ext cx="3823418" cy="3844387"/>
          </a:xfrm>
          <a:custGeom>
            <a:avLst/>
            <a:gdLst/>
            <a:ahLst/>
            <a:cxnLst/>
            <a:rect r="r" b="b" t="t" l="l"/>
            <a:pathLst>
              <a:path h="3844387" w="3823418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39730" y="1579306"/>
            <a:ext cx="6219570" cy="3996074"/>
          </a:xfrm>
          <a:custGeom>
            <a:avLst/>
            <a:gdLst/>
            <a:ahLst/>
            <a:cxnLst/>
            <a:rect r="r" b="b" t="t" l="l"/>
            <a:pathLst>
              <a:path h="3996074" w="6219570">
                <a:moveTo>
                  <a:pt x="0" y="0"/>
                </a:moveTo>
                <a:lnTo>
                  <a:pt x="6219570" y="0"/>
                </a:lnTo>
                <a:lnTo>
                  <a:pt x="6219570" y="3996074"/>
                </a:lnTo>
                <a:lnTo>
                  <a:pt x="0" y="3996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3" r="0" b="-5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6536" y="1969918"/>
            <a:ext cx="1013867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Big Data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5218" y="3577343"/>
            <a:ext cx="10184512" cy="543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5"/>
              </a:lnSpc>
            </a:pPr>
            <a:r>
              <a:rPr lang="en-US" b="true" sz="3097" spc="6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Volume:</a:t>
            </a:r>
            <a:r>
              <a:rPr lang="en-US" sz="309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Successfully processed and </a:t>
            </a:r>
            <a:r>
              <a:rPr lang="en-US" b="true" sz="309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analyzed </a:t>
            </a:r>
            <a:r>
              <a:rPr lang="en-US" b="true" sz="3097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 Millions Records</a:t>
            </a:r>
            <a:r>
              <a:rPr lang="en-US" b="true" sz="309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across the dataset.</a:t>
            </a:r>
          </a:p>
          <a:p>
            <a:pPr algn="just">
              <a:lnSpc>
                <a:spcPts val="3536"/>
              </a:lnSpc>
            </a:pPr>
          </a:p>
          <a:p>
            <a:pPr algn="just">
              <a:lnSpc>
                <a:spcPts val="3536"/>
              </a:lnSpc>
            </a:pPr>
          </a:p>
          <a:p>
            <a:pPr algn="just">
              <a:lnSpc>
                <a:spcPts val="3655"/>
              </a:lnSpc>
            </a:pPr>
            <a:r>
              <a:rPr lang="en-US" b="true" sz="3097" spc="6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Format:</a:t>
            </a:r>
            <a:r>
              <a:rPr lang="en-US" b="true" sz="309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9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raw data was </a:t>
            </a:r>
            <a:r>
              <a:rPr lang="en-US" b="true" sz="3097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stored in Parquet format</a:t>
            </a:r>
            <a:r>
              <a:rPr lang="en-US" sz="3097" spc="6">
                <a:solidFill>
                  <a:srgbClr val="F7447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97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(Columnar Storage)</a:t>
            </a:r>
            <a:r>
              <a:rPr lang="en-US" sz="309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309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requiring specialized data engineering techniques for extraction</a:t>
            </a:r>
            <a:r>
              <a:rPr lang="en-US" sz="309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3536"/>
              </a:lnSpc>
            </a:pPr>
          </a:p>
          <a:p>
            <a:pPr algn="just">
              <a:lnSpc>
                <a:spcPts val="3536"/>
              </a:lnSpc>
            </a:pPr>
          </a:p>
          <a:p>
            <a:pPr algn="just">
              <a:lnSpc>
                <a:spcPts val="3655"/>
              </a:lnSpc>
            </a:pPr>
            <a:r>
              <a:rPr lang="en-US" b="true" sz="3097" spc="6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Complexity:</a:t>
            </a:r>
            <a:r>
              <a:rPr lang="en-US" sz="309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Handled a </a:t>
            </a:r>
            <a:r>
              <a:rPr lang="en-US" b="true" sz="309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relational schema of </a:t>
            </a:r>
          </a:p>
          <a:p>
            <a:pPr algn="just">
              <a:lnSpc>
                <a:spcPts val="3536"/>
              </a:lnSpc>
            </a:pPr>
            <a:r>
              <a:rPr lang="en-US" b="true" sz="2997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 interconnected tables</a:t>
            </a:r>
            <a:r>
              <a:rPr lang="en-US" sz="2997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997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covering the entire "Seed-to-Sale" lifecycle.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 Hurdles &amp; Engineering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1: File Compatibility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1545" y="5584115"/>
            <a:ext cx="11618074" cy="222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sz="3033" spc="5" u="sng">
                <a:solidFill>
                  <a:srgbClr val="B6CDD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Parquet files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are </a:t>
            </a:r>
            <a:r>
              <a:rPr lang="en-US" b="true" sz="3033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incompatible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spreadsheet tools.</a:t>
            </a:r>
          </a:p>
          <a:p>
            <a:pPr algn="ctr">
              <a:lnSpc>
                <a:spcPts val="3579"/>
              </a:lnSpc>
            </a:pPr>
          </a:p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Utilized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libraries (pyarrow, fastparquet)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efficient data ingestion.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 Hurdles &amp; Engineering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7474" y="3608827"/>
            <a:ext cx="13738675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2: Connectivity Challenge (Bridging Python &amp; SQL)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6767" y="5688246"/>
            <a:ext cx="11618074" cy="357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sz="3033" spc="5">
                <a:solidFill>
                  <a:srgbClr val="B6CDD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Communication Gap  [Python 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Server]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 separate environments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that</a:t>
            </a:r>
            <a:r>
              <a:rPr lang="en-US" b="true" sz="3033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cannot communicate directly by default.</a:t>
            </a:r>
          </a:p>
          <a:p>
            <a:pPr algn="ctr">
              <a:lnSpc>
                <a:spcPts val="3579"/>
              </a:lnSpc>
            </a:pPr>
          </a:p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Implemented the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ODBC Driver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act as </a:t>
            </a:r>
            <a:r>
              <a:rPr lang="en-US" b="true" sz="3033" spc="5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secure "translator" and bridge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 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enabled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seamless, high-speed data transfer from the coding environment to the database </a:t>
            </a:r>
            <a:r>
              <a:rPr lang="en-US" b="true" sz="3033" spc="5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without manual errors.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 Hurdles &amp; Engineering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3: Infrastructure Limits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1545" y="5584115"/>
            <a:ext cx="11618074" cy="267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raw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uncompressed data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exceeded the 10GB storage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imit of SQL Server Express.</a:t>
            </a:r>
          </a:p>
          <a:p>
            <a:pPr algn="ctr">
              <a:lnSpc>
                <a:spcPts val="3579"/>
              </a:lnSpc>
            </a:pPr>
          </a:p>
          <a:p>
            <a:pPr algn="ctr">
              <a:lnSpc>
                <a:spcPts val="3579"/>
              </a:lnSpc>
            </a:pPr>
            <a:r>
              <a:rPr lang="en-US" b="true" sz="3033" spc="5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solved this by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splitting the analytics into 5 different categories.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Each category only needed a specific set of tables,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 the whole database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 Hurdles &amp; Engineering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4: Data Quality (Noise)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1545" y="5584115"/>
            <a:ext cx="11618074" cy="267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dataset </a:t>
            </a:r>
            <a:r>
              <a:rPr lang="en-US" b="true" sz="3033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contained significant noise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including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impossible dates (e.g., 1970), negative values, and logical duplications.</a:t>
            </a:r>
          </a:p>
          <a:p>
            <a:pPr algn="ctr">
              <a:lnSpc>
                <a:spcPts val="3579"/>
              </a:lnSpc>
            </a:pPr>
          </a:p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Implemented rigorous data cleaning and validation scripts </a:t>
            </a:r>
            <a:r>
              <a:rPr lang="en-US" b="true" sz="3033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ensure analytical accuracy</a:t>
            </a:r>
            <a:r>
              <a:rPr lang="en-US" sz="3033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64420" y="7696979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alphaModFix amt="7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358991" y="7696979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alphaModFix amt="7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42070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936763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77640" y="5653784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45313" y="1992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47" y="1839728"/>
            <a:ext cx="119812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 &amp; Tech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0566" y="3326898"/>
            <a:ext cx="8430373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 spc="-231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Data Ingestion &amp; Preparation 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75735" y="4423624"/>
            <a:ext cx="9057120" cy="217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Tools:</a:t>
            </a:r>
            <a:r>
              <a:rPr lang="en-US" sz="2799" spc="5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(Pandas, PyArrow)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799" spc="5">
                <a:solidFill>
                  <a:srgbClr val="255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VS Code</a:t>
            </a:r>
            <a:r>
              <a:rPr lang="en-US" sz="2799" spc="5">
                <a:solidFill>
                  <a:srgbClr val="255DA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Role: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Handling heavy lifting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raw Parquet files.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9126" y="7075408"/>
            <a:ext cx="8224625" cy="250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Tasks:</a:t>
            </a:r>
            <a:r>
              <a:rPr lang="en-US" b="true" sz="2799" spc="5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99" spc="5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 &amp; Validation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(removing outliers, fixing dates)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5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ODBC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</a:t>
            </a:r>
            <a:r>
              <a:rPr lang="en-US" b="true" sz="2799" spc="5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secure data transfer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473067" y="7696979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955559" y="7643545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42070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936763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77640" y="5653784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45313" y="1992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47" y="1839728"/>
            <a:ext cx="119812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 &amp; Tech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0566" y="3326898"/>
            <a:ext cx="11258884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 spc="-231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Data Warehousing &amp; Analysis Layer (The Brain):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75735" y="4423624"/>
            <a:ext cx="9057120" cy="148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Tools:</a:t>
            </a:r>
            <a:r>
              <a:rPr lang="en-US" sz="2799" spc="5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Microsoft SQL Server (SSMS).</a:t>
            </a:r>
          </a:p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Role: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Centralized storage and relational logic.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9126" y="7075408"/>
            <a:ext cx="8224625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Tasks:</a:t>
            </a:r>
            <a:r>
              <a:rPr lang="en-US" b="true" sz="2799" spc="5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Executing complex queries (Joins, Grouping) to answer business questions.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473067" y="7696979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955559" y="7643545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42070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936763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77640" y="5653784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45313" y="1992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47" y="1839728"/>
            <a:ext cx="119812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 &amp; Tech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0566" y="3326898"/>
            <a:ext cx="10681851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b="true" sz="3800" spc="-231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Visualization &amp; Storytelling Layer (The Face):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75735" y="4423624"/>
            <a:ext cx="9057120" cy="217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Tools:</a:t>
            </a:r>
            <a:r>
              <a:rPr lang="en-US" sz="2799" spc="5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7DA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BI.</a:t>
            </a:r>
          </a:p>
          <a:p>
            <a:pPr algn="just">
              <a:lnSpc>
                <a:spcPts val="5431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Role:</a:t>
            </a:r>
            <a:r>
              <a:rPr lang="en-US" sz="27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Transforming numbers into interactive narratives.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9126" y="7075408"/>
            <a:ext cx="9728514" cy="200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5" u="sng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Tasks:</a:t>
            </a:r>
            <a:r>
              <a:rPr lang="en-US" b="true" sz="2799" spc="5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dashboards for stakeholders.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 spc="5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Visualizing trends (Sales Evolution)</a:t>
            </a: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 </a:t>
            </a:r>
            <a:r>
              <a:rPr lang="en-US" b="true" sz="2799" spc="5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 (Inventory Valuation).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0041" y="1520113"/>
            <a:ext cx="96297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Assurance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041" y="3231410"/>
            <a:ext cx="10358861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1"/>
              </a:lnSpc>
            </a:pP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1. Structural Integrity (</a:t>
            </a:r>
            <a:r>
              <a:rPr lang="ar-EG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السلامة الهيكلية</a:t>
            </a: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):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10843" y="235831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32782" y="9258300"/>
            <a:ext cx="1555629" cy="1555629"/>
          </a:xfrm>
          <a:custGeom>
            <a:avLst/>
            <a:gdLst/>
            <a:ahLst/>
            <a:cxnLst/>
            <a:rect r="r" b="b" t="t" l="l"/>
            <a:pathLst>
              <a:path h="1555629" w="1555629">
                <a:moveTo>
                  <a:pt x="0" y="0"/>
                </a:moveTo>
                <a:lnTo>
                  <a:pt x="1555629" y="0"/>
                </a:lnTo>
                <a:lnTo>
                  <a:pt x="1555629" y="1555629"/>
                </a:lnTo>
                <a:lnTo>
                  <a:pt x="0" y="155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9768" y="2227862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6118" y="4640221"/>
            <a:ext cx="9017574" cy="338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4"/>
              </a:lnSpc>
            </a:pPr>
            <a:r>
              <a:rPr lang="en-US" b="true" sz="329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Eliminated Redundancy: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Removed over 96,000 fully duplicate records to ensure statistical accuracy.</a:t>
            </a:r>
          </a:p>
          <a:p>
            <a:pPr algn="just">
              <a:lnSpc>
                <a:spcPts val="3884"/>
              </a:lnSpc>
            </a:pPr>
          </a:p>
          <a:p>
            <a:pPr algn="just">
              <a:lnSpc>
                <a:spcPts val="3884"/>
              </a:lnSpc>
            </a:pPr>
            <a:r>
              <a:rPr lang="en-US" b="true" sz="329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Optimized Schema: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Dropped completely empty columns (e.g., InventoryIdentifier) to reduce noise.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0041" y="1520113"/>
            <a:ext cx="96297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Assurance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041" y="3231410"/>
            <a:ext cx="10358861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1"/>
              </a:lnSpc>
            </a:pP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2. Standardization &amp; Normalization (</a:t>
            </a:r>
            <a:r>
              <a:rPr lang="ar-EG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التوحيد</a:t>
            </a: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):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10843" y="235831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32782" y="9258300"/>
            <a:ext cx="1555629" cy="1555629"/>
          </a:xfrm>
          <a:custGeom>
            <a:avLst/>
            <a:gdLst/>
            <a:ahLst/>
            <a:cxnLst/>
            <a:rect r="r" b="b" t="t" l="l"/>
            <a:pathLst>
              <a:path h="1555629" w="1555629">
                <a:moveTo>
                  <a:pt x="0" y="0"/>
                </a:moveTo>
                <a:lnTo>
                  <a:pt x="1555629" y="0"/>
                </a:lnTo>
                <a:lnTo>
                  <a:pt x="1555629" y="1555629"/>
                </a:lnTo>
                <a:lnTo>
                  <a:pt x="0" y="155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9768" y="2227862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9588" y="4770672"/>
            <a:ext cx="9761351" cy="39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b="true" sz="378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Unified text formats </a:t>
            </a:r>
            <a:r>
              <a:rPr lang="en-US" b="true" sz="378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(Lowercase) to merge categories </a:t>
            </a:r>
            <a:r>
              <a:rPr lang="en-US" sz="3781" spc="6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(e.g., 'Waste' vs 'waste').</a:t>
            </a:r>
          </a:p>
          <a:p>
            <a:pPr algn="just">
              <a:lnSpc>
                <a:spcPts val="4462"/>
              </a:lnSpc>
            </a:pPr>
          </a:p>
          <a:p>
            <a:pPr algn="l">
              <a:lnSpc>
                <a:spcPts val="4462"/>
              </a:lnSpc>
            </a:pPr>
            <a:r>
              <a:rPr lang="en-US" b="true" sz="378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Corrected data entry typos</a:t>
            </a:r>
            <a:r>
              <a:rPr lang="en-US" b="true" sz="378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781" spc="6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(e.g., fixed 'etract' to 'extract')</a:t>
            </a:r>
            <a:r>
              <a:rPr lang="en-US" b="true" sz="378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to consolidate product lines.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0041" y="1520113"/>
            <a:ext cx="96297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Assurance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041" y="3231410"/>
            <a:ext cx="10358861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1"/>
              </a:lnSpc>
            </a:pP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3. Business Logic Validation (</a:t>
            </a:r>
            <a:r>
              <a:rPr lang="ar-EG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التحقق المنطقي</a:t>
            </a: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):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10843" y="235831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32782" y="9258300"/>
            <a:ext cx="1555629" cy="1555629"/>
          </a:xfrm>
          <a:custGeom>
            <a:avLst/>
            <a:gdLst/>
            <a:ahLst/>
            <a:cxnLst/>
            <a:rect r="r" b="b" t="t" l="l"/>
            <a:pathLst>
              <a:path h="1555629" w="1555629">
                <a:moveTo>
                  <a:pt x="0" y="0"/>
                </a:moveTo>
                <a:lnTo>
                  <a:pt x="1555629" y="0"/>
                </a:lnTo>
                <a:lnTo>
                  <a:pt x="1555629" y="1555629"/>
                </a:lnTo>
                <a:lnTo>
                  <a:pt x="0" y="155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9768" y="2227862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6127" y="4640221"/>
            <a:ext cx="8961667" cy="484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b="true" sz="329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Enforced "Impossible Values" rules:</a:t>
            </a:r>
          </a:p>
          <a:p>
            <a:pPr algn="l">
              <a:lnSpc>
                <a:spcPts val="3884"/>
              </a:lnSpc>
            </a:pPr>
          </a:p>
          <a:p>
            <a:pPr algn="l">
              <a:lnSpc>
                <a:spcPts val="3884"/>
              </a:lnSpc>
            </a:pPr>
            <a:r>
              <a:rPr lang="en-US" b="true" sz="329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291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Removed records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with</a:t>
            </a:r>
            <a:r>
              <a:rPr lang="en-US" b="true" sz="3291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negative weights, quantities, or costs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(0.5% of data).</a:t>
            </a:r>
          </a:p>
          <a:p>
            <a:pPr algn="l">
              <a:lnSpc>
                <a:spcPts val="3884"/>
              </a:lnSpc>
            </a:pPr>
          </a:p>
          <a:p>
            <a:pPr algn="l">
              <a:lnSpc>
                <a:spcPts val="3884"/>
              </a:lnSpc>
            </a:pPr>
            <a:r>
              <a:rPr lang="en-US" b="true" sz="3291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Sanitized Temporal Data:</a:t>
            </a: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>
              <a:lnSpc>
                <a:spcPts val="3884"/>
              </a:lnSpc>
            </a:pPr>
            <a:r>
              <a:rPr lang="en-US" b="true" sz="3291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Converted default system dates (e.g., 1970-01-01) to nulls </a:t>
            </a:r>
            <a:r>
              <a:rPr lang="en-US" b="true" sz="3291" spc="6">
                <a:solidFill>
                  <a:srgbClr val="F7DA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prevent analysis skew.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443" y="2000095"/>
            <a:ext cx="96297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Assurance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443" y="3711393"/>
            <a:ext cx="10358861" cy="51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1"/>
              </a:lnSpc>
            </a:pP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4. Primary Key Verification (</a:t>
            </a:r>
            <a:r>
              <a:rPr lang="ar-EG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التحقق من المفاتيح</a:t>
            </a:r>
            <a:r>
              <a:rPr lang="en-US" b="true" sz="3400" spc="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):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10843" y="235831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32782" y="9258300"/>
            <a:ext cx="1555629" cy="1555629"/>
          </a:xfrm>
          <a:custGeom>
            <a:avLst/>
            <a:gdLst/>
            <a:ahLst/>
            <a:cxnLst/>
            <a:rect r="r" b="b" t="t" l="l"/>
            <a:pathLst>
              <a:path h="1555629" w="1555629">
                <a:moveTo>
                  <a:pt x="0" y="0"/>
                </a:moveTo>
                <a:lnTo>
                  <a:pt x="1555629" y="0"/>
                </a:lnTo>
                <a:lnTo>
                  <a:pt x="1555629" y="1555629"/>
                </a:lnTo>
                <a:lnTo>
                  <a:pt x="0" y="1555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9768" y="2227862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2520" y="5287927"/>
            <a:ext cx="9323651" cy="284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6"/>
              </a:lnSpc>
            </a:pPr>
            <a:r>
              <a:rPr lang="en-US" b="true" sz="3200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Validated Primary Keys: </a:t>
            </a:r>
          </a:p>
          <a:p>
            <a:pPr algn="just">
              <a:lnSpc>
                <a:spcPts val="3776"/>
              </a:lnSpc>
            </a:pPr>
          </a:p>
          <a:p>
            <a:pPr algn="just">
              <a:lnSpc>
                <a:spcPts val="3776"/>
              </a:lnSpc>
            </a:pPr>
            <a:r>
              <a:rPr lang="en-US" b="true" sz="3200" spc="6">
                <a:solidFill>
                  <a:srgbClr val="8ACED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3200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ensure uniqueness before relational joining.</a:t>
            </a:r>
          </a:p>
          <a:p>
            <a:pPr algn="just">
              <a:lnSpc>
                <a:spcPts val="3776"/>
              </a:lnSpc>
            </a:pPr>
          </a:p>
          <a:p>
            <a:pPr algn="just">
              <a:lnSpc>
                <a:spcPts val="3776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62" y="2096363"/>
            <a:ext cx="15327475" cy="6955460"/>
          </a:xfrm>
          <a:custGeom>
            <a:avLst/>
            <a:gdLst/>
            <a:ahLst/>
            <a:cxnLst/>
            <a:rect r="r" b="b" t="t" l="l"/>
            <a:pathLst>
              <a:path h="6955460" w="15327475">
                <a:moveTo>
                  <a:pt x="0" y="0"/>
                </a:moveTo>
                <a:lnTo>
                  <a:pt x="15327475" y="0"/>
                </a:lnTo>
                <a:lnTo>
                  <a:pt x="15327475" y="6955460"/>
                </a:lnTo>
                <a:lnTo>
                  <a:pt x="0" y="695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60152" y="2795006"/>
            <a:ext cx="11472384" cy="528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5"/>
              </a:lnSpc>
            </a:pPr>
            <a:r>
              <a:rPr lang="en-US" b="true" sz="9738" spc="-5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Solving </a:t>
            </a:r>
          </a:p>
          <a:p>
            <a:pPr algn="ctr">
              <a:lnSpc>
                <a:spcPts val="13635"/>
              </a:lnSpc>
            </a:pPr>
            <a:r>
              <a:rPr lang="en-US" b="true" sz="9738" spc="-5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Critical Data Anomalies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976280" y="261465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5218" y="7087074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62" y="2096363"/>
            <a:ext cx="15327475" cy="6955460"/>
          </a:xfrm>
          <a:custGeom>
            <a:avLst/>
            <a:gdLst/>
            <a:ahLst/>
            <a:cxnLst/>
            <a:rect r="r" b="b" t="t" l="l"/>
            <a:pathLst>
              <a:path h="6955460" w="15327475">
                <a:moveTo>
                  <a:pt x="0" y="0"/>
                </a:moveTo>
                <a:lnTo>
                  <a:pt x="15327475" y="0"/>
                </a:lnTo>
                <a:lnTo>
                  <a:pt x="15327475" y="6955460"/>
                </a:lnTo>
                <a:lnTo>
                  <a:pt x="0" y="695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76280" y="261465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218" y="7478616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5890" y="3491976"/>
            <a:ext cx="4217418" cy="4254646"/>
          </a:xfrm>
          <a:custGeom>
            <a:avLst/>
            <a:gdLst/>
            <a:ahLst/>
            <a:cxnLst/>
            <a:rect r="r" b="b" t="t" l="l"/>
            <a:pathLst>
              <a:path h="4254646" w="4217418">
                <a:moveTo>
                  <a:pt x="0" y="0"/>
                </a:moveTo>
                <a:lnTo>
                  <a:pt x="4217418" y="0"/>
                </a:lnTo>
                <a:lnTo>
                  <a:pt x="4217418" y="4254646"/>
                </a:lnTo>
                <a:lnTo>
                  <a:pt x="0" y="4254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" r="0" b="-1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4802" y="2755376"/>
            <a:ext cx="7963900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"Logical Duplicate" Trap: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2262" y="4074283"/>
            <a:ext cx="8134018" cy="173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3"/>
              </a:lnSpc>
            </a:pPr>
            <a:r>
              <a:rPr lang="en-US" b="true" sz="3056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InventoryId appeared duplicated due to a business rule</a:t>
            </a:r>
            <a:r>
              <a:rPr lang="en-US" sz="3056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3056" spc="6">
                <a:solidFill>
                  <a:srgbClr val="F7DA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(logged twice as Medical/Recreational).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2262" y="6169712"/>
            <a:ext cx="8134018" cy="220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b="true" sz="3067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b="true" sz="306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Applied Logical Deduplication</a:t>
            </a:r>
            <a:r>
              <a:rPr lang="en-US" sz="306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 </a:t>
            </a:r>
            <a:r>
              <a:rPr lang="en-US" b="true" sz="3067" spc="6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retain a single unique record per item</a:t>
            </a:r>
            <a:r>
              <a:rPr lang="en-US" sz="306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306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preventing double-counting of assets.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62" y="2096363"/>
            <a:ext cx="15327475" cy="6955460"/>
          </a:xfrm>
          <a:custGeom>
            <a:avLst/>
            <a:gdLst/>
            <a:ahLst/>
            <a:cxnLst/>
            <a:rect r="r" b="b" t="t" l="l"/>
            <a:pathLst>
              <a:path h="6955460" w="15327475">
                <a:moveTo>
                  <a:pt x="0" y="0"/>
                </a:moveTo>
                <a:lnTo>
                  <a:pt x="15327475" y="0"/>
                </a:lnTo>
                <a:lnTo>
                  <a:pt x="15327475" y="6955460"/>
                </a:lnTo>
                <a:lnTo>
                  <a:pt x="0" y="695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76280" y="261465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218" y="7478616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5890" y="3491976"/>
            <a:ext cx="4217418" cy="4254646"/>
          </a:xfrm>
          <a:custGeom>
            <a:avLst/>
            <a:gdLst/>
            <a:ahLst/>
            <a:cxnLst/>
            <a:rect r="r" b="b" t="t" l="l"/>
            <a:pathLst>
              <a:path h="4254646" w="4217418">
                <a:moveTo>
                  <a:pt x="0" y="0"/>
                </a:moveTo>
                <a:lnTo>
                  <a:pt x="4217418" y="0"/>
                </a:lnTo>
                <a:lnTo>
                  <a:pt x="4217418" y="4254646"/>
                </a:lnTo>
                <a:lnTo>
                  <a:pt x="0" y="4254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" r="0" b="-1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0609" y="2755376"/>
            <a:ext cx="9715672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Extreme Outliers (The "Fat Finger" Error)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2262" y="4074283"/>
            <a:ext cx="8134018" cy="173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b="true" sz="3056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 </a:t>
            </a:r>
            <a:r>
              <a:rPr lang="en-US" b="true" sz="3056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Identified catastrophic data entry errors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b="true" sz="3056" spc="6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e.g., 100 Million units with $0 cost, or 227kg items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2262" y="6169712"/>
            <a:ext cx="8134018" cy="220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b="true" sz="3067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b="true" sz="306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b="true" sz="3067" spc="6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Calculated Statistical Percentiles (99.9%)</a:t>
            </a:r>
            <a:r>
              <a:rPr lang="en-US" b="true" sz="306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067" spc="6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to establish logical upper limits and</a:t>
            </a:r>
            <a:r>
              <a:rPr lang="en-US" b="true" sz="3067" spc="6" u="sng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filtered out 0.01% of data that was skewing averages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62" y="2096363"/>
            <a:ext cx="15327475" cy="6955460"/>
          </a:xfrm>
          <a:custGeom>
            <a:avLst/>
            <a:gdLst/>
            <a:ahLst/>
            <a:cxnLst/>
            <a:rect r="r" b="b" t="t" l="l"/>
            <a:pathLst>
              <a:path h="6955460" w="15327475">
                <a:moveTo>
                  <a:pt x="0" y="0"/>
                </a:moveTo>
                <a:lnTo>
                  <a:pt x="15327475" y="0"/>
                </a:lnTo>
                <a:lnTo>
                  <a:pt x="15327475" y="6955460"/>
                </a:lnTo>
                <a:lnTo>
                  <a:pt x="0" y="695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76280" y="261465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5218" y="7478616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5890" y="3491976"/>
            <a:ext cx="4217418" cy="4254646"/>
          </a:xfrm>
          <a:custGeom>
            <a:avLst/>
            <a:gdLst/>
            <a:ahLst/>
            <a:cxnLst/>
            <a:rect r="r" b="b" t="t" l="l"/>
            <a:pathLst>
              <a:path h="4254646" w="4217418">
                <a:moveTo>
                  <a:pt x="0" y="0"/>
                </a:moveTo>
                <a:lnTo>
                  <a:pt x="4217418" y="0"/>
                </a:lnTo>
                <a:lnTo>
                  <a:pt x="4217418" y="4254646"/>
                </a:lnTo>
                <a:lnTo>
                  <a:pt x="0" y="4254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" r="0" b="-1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8433" y="2783399"/>
            <a:ext cx="6081677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"Zero-Cost" Paradox: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2262" y="4074283"/>
            <a:ext cx="8134018" cy="11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3"/>
              </a:lnSpc>
            </a:pPr>
            <a:r>
              <a:rPr lang="en-US" b="true" sz="3056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Issue: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Found </a:t>
            </a:r>
            <a:r>
              <a:rPr lang="en-US" b="true" sz="3056" spc="6">
                <a:solidFill>
                  <a:srgbClr val="00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2.1 Million items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with quantity </a:t>
            </a:r>
            <a:r>
              <a:rPr lang="en-US" b="true" sz="3056" spc="6">
                <a:solidFill>
                  <a:srgbClr val="F744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but zero cost</a:t>
            </a:r>
            <a:r>
              <a:rPr lang="en-US" b="true" sz="3056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2262" y="6045958"/>
            <a:ext cx="8134018" cy="265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b="true" sz="2967" spc="5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r>
              <a:rPr lang="en-US" b="true" sz="2967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967" spc="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Retained these records after investigation </a:t>
            </a:r>
            <a:r>
              <a:rPr lang="en-US" b="true" sz="2967" spc="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revealed they represent operational items (Samples, Plants, Waste)</a:t>
            </a:r>
            <a:r>
              <a:rPr lang="en-US" b="true" sz="2967" spc="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b="true" sz="2967" spc="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flagging them for specific analysis rather than deletion.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62" y="2096363"/>
            <a:ext cx="15327475" cy="6955460"/>
          </a:xfrm>
          <a:custGeom>
            <a:avLst/>
            <a:gdLst/>
            <a:ahLst/>
            <a:cxnLst/>
            <a:rect r="r" b="b" t="t" l="l"/>
            <a:pathLst>
              <a:path h="6955460" w="15327475">
                <a:moveTo>
                  <a:pt x="0" y="0"/>
                </a:moveTo>
                <a:lnTo>
                  <a:pt x="15327475" y="0"/>
                </a:lnTo>
                <a:lnTo>
                  <a:pt x="15327475" y="6955460"/>
                </a:lnTo>
                <a:lnTo>
                  <a:pt x="0" y="695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0261" y="4549020"/>
            <a:ext cx="9507478" cy="342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3"/>
              </a:lnSpc>
            </a:pPr>
            <a:r>
              <a:rPr lang="en-US" b="true" sz="3795" spc="-2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1: Market Identity (Efficiency &amp; Risk)</a:t>
            </a:r>
          </a:p>
          <a:p>
            <a:pPr algn="ctr">
              <a:lnSpc>
                <a:spcPts val="5313"/>
              </a:lnSpc>
            </a:pPr>
          </a:p>
          <a:p>
            <a:pPr algn="ctr">
              <a:lnSpc>
                <a:spcPts val="5313"/>
              </a:lnSpc>
            </a:pPr>
            <a:r>
              <a:rPr lang="en-US" b="true" sz="3795" spc="-2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2: Financial Health (The Liquidity Trap)</a:t>
            </a:r>
          </a:p>
          <a:p>
            <a:pPr algn="ctr">
              <a:lnSpc>
                <a:spcPts val="5313"/>
              </a:lnSpc>
            </a:pPr>
          </a:p>
          <a:p>
            <a:pPr algn="ctr">
              <a:lnSpc>
                <a:spcPts val="5313"/>
              </a:lnSpc>
            </a:pPr>
            <a:r>
              <a:rPr lang="en-US" b="true" sz="3795" spc="-2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3: Sales Evolution (The Shift)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976280" y="261465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5218" y="7087074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96733" y="2681327"/>
            <a:ext cx="11494534" cy="11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4"/>
              </a:lnSpc>
            </a:pPr>
            <a:r>
              <a:rPr lang="en-US" b="true" sz="5859" spc="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Strategic Story (3 Pillars)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Analysis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Sales &amp; Revenue Dynamics: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4963" y="5584115"/>
            <a:ext cx="11618074" cy="88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Focus:</a:t>
            </a:r>
            <a:r>
              <a:rPr lang="en-US" b="true" sz="3033" spc="5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033" spc="5">
                <a:solidFill>
                  <a:srgbClr val="DADA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Analyzing growth trends since 2014 and identifying the most profitable sales channels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Analysis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Product Quality &amp; Standards: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4963" y="5584115"/>
            <a:ext cx="11618074" cy="88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Focus:</a:t>
            </a:r>
            <a:r>
              <a:rPr lang="en-US" b="true" sz="3033" spc="5">
                <a:solidFill>
                  <a:srgbClr val="DADA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Deciphering consumer demand (Potency vs. Therapy) and strain dominance.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Analysis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Inventory Health &amp; Cost: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4963" y="5584115"/>
            <a:ext cx="11618074" cy="43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Focus:</a:t>
            </a:r>
            <a:r>
              <a:rPr lang="en-US" b="true" sz="3033" spc="5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033" spc="5">
                <a:solidFill>
                  <a:srgbClr val="DADA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Evaluating asset value and shelf-life risks.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Analysis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Market Structure (Licensees):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4963" y="5584115"/>
            <a:ext cx="11618074" cy="88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Focus:</a:t>
            </a:r>
            <a:r>
              <a:rPr lang="en-US" b="true" sz="3033" spc="5">
                <a:solidFill>
                  <a:srgbClr val="DADA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Mapping market players and testing infrastructure.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73155" y="2291978"/>
            <a:ext cx="125416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b="true" sz="4500" spc="-27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Analysis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6551" y="3499410"/>
            <a:ext cx="1225489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 spc="-231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Geography &amp; Supply Chain: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4963" y="5584115"/>
            <a:ext cx="11618074" cy="43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b="true" sz="3033" spc="5" u="sng">
                <a:solidFill>
                  <a:srgbClr val="B6CD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Focus:</a:t>
            </a:r>
            <a:r>
              <a:rPr lang="en-US" b="true" sz="3033" spc="5">
                <a:solidFill>
                  <a:srgbClr val="DADA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Tracing the flow from farm to retail hubs.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051868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769619" y="7261804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648" y="7548955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51868" y="2444378"/>
            <a:ext cx="1207432" cy="1207432"/>
          </a:xfrm>
          <a:custGeom>
            <a:avLst/>
            <a:gdLst/>
            <a:ahLst/>
            <a:cxnLst/>
            <a:rect r="r" b="b" t="t" l="l"/>
            <a:pathLst>
              <a:path h="1207432" w="1207432">
                <a:moveTo>
                  <a:pt x="0" y="0"/>
                </a:moveTo>
                <a:lnTo>
                  <a:pt x="1207432" y="0"/>
                </a:lnTo>
                <a:lnTo>
                  <a:pt x="1207432" y="1207432"/>
                </a:lnTo>
                <a:lnTo>
                  <a:pt x="0" y="1207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0081" y="2630988"/>
            <a:ext cx="12874906" cy="7520204"/>
            <a:chOff x="0" y="0"/>
            <a:chExt cx="17166541" cy="100269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66464" cy="10027031"/>
            </a:xfrm>
            <a:custGeom>
              <a:avLst/>
              <a:gdLst/>
              <a:ahLst/>
              <a:cxnLst/>
              <a:rect r="r" b="b" t="t" l="l"/>
              <a:pathLst>
                <a:path h="10027031" w="17166464">
                  <a:moveTo>
                    <a:pt x="405130" y="0"/>
                  </a:moveTo>
                  <a:lnTo>
                    <a:pt x="16761461" y="0"/>
                  </a:lnTo>
                  <a:cubicBezTo>
                    <a:pt x="16868902" y="0"/>
                    <a:pt x="16971899" y="42672"/>
                    <a:pt x="17047846" y="118618"/>
                  </a:cubicBezTo>
                  <a:cubicBezTo>
                    <a:pt x="17123792" y="194564"/>
                    <a:pt x="17166464" y="297688"/>
                    <a:pt x="17166464" y="405003"/>
                  </a:cubicBezTo>
                  <a:lnTo>
                    <a:pt x="17166464" y="9621901"/>
                  </a:lnTo>
                  <a:cubicBezTo>
                    <a:pt x="17166464" y="9845675"/>
                    <a:pt x="16985107" y="10027031"/>
                    <a:pt x="16761333" y="10027031"/>
                  </a:cubicBezTo>
                  <a:lnTo>
                    <a:pt x="405130" y="10027031"/>
                  </a:lnTo>
                  <a:cubicBezTo>
                    <a:pt x="181356" y="10027031"/>
                    <a:pt x="0" y="9845675"/>
                    <a:pt x="0" y="9621901"/>
                  </a:cubicBezTo>
                  <a:lnTo>
                    <a:pt x="0" y="405130"/>
                  </a:lnTo>
                  <a:cubicBezTo>
                    <a:pt x="0" y="181356"/>
                    <a:pt x="181356" y="0"/>
                    <a:pt x="405130" y="0"/>
                  </a:cubicBezTo>
                  <a:close/>
                </a:path>
              </a:pathLst>
            </a:custGeom>
            <a:blipFill>
              <a:blip r:embed="rId4"/>
              <a:stretch>
                <a:fillRect l="-1638" t="0" r="-163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1000"/>
              </a:blip>
              <a:stretch>
                <a:fillRect l="-28076" t="0" r="-28075" b="-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-738687" y="1774904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324" y="891512"/>
            <a:ext cx="7493530" cy="165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20"/>
              </a:lnSpc>
            </a:pPr>
            <a:r>
              <a:rPr lang="en-US" b="true" sz="8657" spc="-5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0081" y="2630988"/>
            <a:ext cx="12874906" cy="7520204"/>
            <a:chOff x="0" y="0"/>
            <a:chExt cx="17166541" cy="100269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66464" cy="10027031"/>
            </a:xfrm>
            <a:custGeom>
              <a:avLst/>
              <a:gdLst/>
              <a:ahLst/>
              <a:cxnLst/>
              <a:rect r="r" b="b" t="t" l="l"/>
              <a:pathLst>
                <a:path h="10027031" w="17166464">
                  <a:moveTo>
                    <a:pt x="405130" y="0"/>
                  </a:moveTo>
                  <a:lnTo>
                    <a:pt x="16761461" y="0"/>
                  </a:lnTo>
                  <a:cubicBezTo>
                    <a:pt x="16868902" y="0"/>
                    <a:pt x="16971899" y="42672"/>
                    <a:pt x="17047846" y="118618"/>
                  </a:cubicBezTo>
                  <a:cubicBezTo>
                    <a:pt x="17123792" y="194564"/>
                    <a:pt x="17166464" y="297688"/>
                    <a:pt x="17166464" y="405003"/>
                  </a:cubicBezTo>
                  <a:lnTo>
                    <a:pt x="17166464" y="9621901"/>
                  </a:lnTo>
                  <a:cubicBezTo>
                    <a:pt x="17166464" y="9845675"/>
                    <a:pt x="16985107" y="10027031"/>
                    <a:pt x="16761333" y="10027031"/>
                  </a:cubicBezTo>
                  <a:lnTo>
                    <a:pt x="405130" y="10027031"/>
                  </a:lnTo>
                  <a:cubicBezTo>
                    <a:pt x="181356" y="10027031"/>
                    <a:pt x="0" y="9845675"/>
                    <a:pt x="0" y="9621901"/>
                  </a:cubicBezTo>
                  <a:lnTo>
                    <a:pt x="0" y="405130"/>
                  </a:lnTo>
                  <a:cubicBezTo>
                    <a:pt x="0" y="181356"/>
                    <a:pt x="181356" y="0"/>
                    <a:pt x="405130" y="0"/>
                  </a:cubicBezTo>
                  <a:close/>
                </a:path>
              </a:pathLst>
            </a:custGeom>
            <a:blipFill>
              <a:blip r:embed="rId4"/>
              <a:stretch>
                <a:fillRect l="-1222" t="0" r="-122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1000"/>
              </a:blip>
              <a:stretch>
                <a:fillRect l="-28076" t="0" r="-28075" b="-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-738687" y="1774904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324" y="891512"/>
            <a:ext cx="7493530" cy="165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20"/>
              </a:lnSpc>
            </a:pPr>
            <a:r>
              <a:rPr lang="en-US" b="true" sz="8657" spc="-5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0081" y="2630988"/>
            <a:ext cx="12874906" cy="7520204"/>
            <a:chOff x="0" y="0"/>
            <a:chExt cx="17166541" cy="100269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66464" cy="10027031"/>
            </a:xfrm>
            <a:custGeom>
              <a:avLst/>
              <a:gdLst/>
              <a:ahLst/>
              <a:cxnLst/>
              <a:rect r="r" b="b" t="t" l="l"/>
              <a:pathLst>
                <a:path h="10027031" w="17166464">
                  <a:moveTo>
                    <a:pt x="405130" y="0"/>
                  </a:moveTo>
                  <a:lnTo>
                    <a:pt x="16761461" y="0"/>
                  </a:lnTo>
                  <a:cubicBezTo>
                    <a:pt x="16868902" y="0"/>
                    <a:pt x="16971899" y="42672"/>
                    <a:pt x="17047846" y="118618"/>
                  </a:cubicBezTo>
                  <a:cubicBezTo>
                    <a:pt x="17123792" y="194564"/>
                    <a:pt x="17166464" y="297688"/>
                    <a:pt x="17166464" y="405003"/>
                  </a:cubicBezTo>
                  <a:lnTo>
                    <a:pt x="17166464" y="9621901"/>
                  </a:lnTo>
                  <a:cubicBezTo>
                    <a:pt x="17166464" y="9845675"/>
                    <a:pt x="16985107" y="10027031"/>
                    <a:pt x="16761333" y="10027031"/>
                  </a:cubicBezTo>
                  <a:lnTo>
                    <a:pt x="405130" y="10027031"/>
                  </a:lnTo>
                  <a:cubicBezTo>
                    <a:pt x="181356" y="10027031"/>
                    <a:pt x="0" y="9845675"/>
                    <a:pt x="0" y="9621901"/>
                  </a:cubicBezTo>
                  <a:lnTo>
                    <a:pt x="0" y="405130"/>
                  </a:lnTo>
                  <a:cubicBezTo>
                    <a:pt x="0" y="181356"/>
                    <a:pt x="181356" y="0"/>
                    <a:pt x="405130" y="0"/>
                  </a:cubicBezTo>
                  <a:close/>
                </a:path>
              </a:pathLst>
            </a:custGeom>
            <a:blipFill>
              <a:blip r:embed="rId4"/>
              <a:stretch>
                <a:fillRect l="-1098" t="0" r="-109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1000"/>
              </a:blip>
              <a:stretch>
                <a:fillRect l="-28076" t="0" r="-28075" b="-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-738687" y="1774904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324" y="891512"/>
            <a:ext cx="7493530" cy="165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20"/>
              </a:lnSpc>
            </a:pPr>
            <a:r>
              <a:rPr lang="en-US" b="true" sz="8657" spc="-5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24922" y="4224207"/>
            <a:ext cx="12038156" cy="16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35"/>
              </a:lnSpc>
              <a:spcBef>
                <a:spcPct val="0"/>
              </a:spcBef>
            </a:pPr>
            <a:r>
              <a:rPr lang="en-US" b="true" sz="9739" spc="-5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5218" y="7087074"/>
            <a:ext cx="1207432" cy="12074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6578" y="3121747"/>
            <a:ext cx="869069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Portfolio Strategy </a:t>
            </a: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(The 80/20 Rule)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4644" y="4621086"/>
            <a:ext cx="9290570" cy="190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Allocate 80% to High-THC Hybrids (Volume) and 20% to Pure Strains (Premium Margin).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6578" y="3121747"/>
            <a:ext cx="91197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Financial Risk Mitigation </a:t>
            </a: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(JIT Model)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4644" y="4621086"/>
            <a:ext cx="9290570" cy="190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Implement Just-In-Time (JIT) inventory for "Flower" to mitigate the $10B liquidity risk due to spoilage.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17044" y="2804937"/>
            <a:ext cx="602576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Operational Efficiency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(Waste Optimization)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4644" y="4621086"/>
            <a:ext cx="9290570" cy="254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Repurpose the 14% Zero-Cost inventory (Waste) into Extraction lines to generate revenue from operational byproducts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72951" y="2842209"/>
            <a:ext cx="5913954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Marketing Shift 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(Effect-Based Branding)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4644" y="4807444"/>
            <a:ext cx="9290570" cy="254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Replace complex naming with "Effect Categories" (e.g., Relax, Focus) to align with mass-market consumer behavior.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59791" y="2980525"/>
            <a:ext cx="961649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Geo-Logistics </a:t>
            </a: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(Hub-and-Spoke Model)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4644" y="4621086"/>
            <a:ext cx="9290570" cy="386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Demand is highly concentrated in King &amp; Spokane counties.</a:t>
            </a:r>
          </a:p>
          <a:p>
            <a:pPr algn="just">
              <a:lnSpc>
                <a:spcPts val="5132"/>
              </a:lnSpc>
            </a:pPr>
          </a:p>
          <a:p>
            <a:pPr algn="just">
              <a:lnSpc>
                <a:spcPts val="5132"/>
              </a:lnSpc>
            </a:pPr>
            <a:r>
              <a:rPr lang="en-US" b="true" sz="3491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 </a:t>
            </a:r>
            <a:r>
              <a:rPr lang="en-US" b="true" sz="3491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Centralize distribution hubs near these urban centers to minimize last-mile delivery costs.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218" y="7478616"/>
            <a:ext cx="1207432" cy="120743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8174" y="129862"/>
            <a:ext cx="2055748" cy="1797676"/>
          </a:xfrm>
          <a:custGeom>
            <a:avLst/>
            <a:gdLst/>
            <a:ahLst/>
            <a:cxnLst/>
            <a:rect r="r" b="b" t="t" l="l"/>
            <a:pathLst>
              <a:path h="1797676" w="2055748">
                <a:moveTo>
                  <a:pt x="0" y="0"/>
                </a:moveTo>
                <a:lnTo>
                  <a:pt x="2055748" y="0"/>
                </a:lnTo>
                <a:lnTo>
                  <a:pt x="2055748" y="1797676"/>
                </a:lnTo>
                <a:lnTo>
                  <a:pt x="0" y="179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7195" t="0" r="-2895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3922" y="3188422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0184" y="2784556"/>
            <a:ext cx="869069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Pricing &amp; Taxation 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243">
                <a:solidFill>
                  <a:srgbClr val="FDCF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(Volume-Driven Model)</a:t>
            </a:r>
            <a:r>
              <a:rPr lang="en-US" b="true" sz="3999" spc="-24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8721" y="4749279"/>
            <a:ext cx="9456442" cy="357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4"/>
              </a:lnSpc>
            </a:pPr>
            <a:r>
              <a:rPr lang="en-US" b="true" sz="3248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b="true" sz="3248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99.9% of tax revenue comes from Recreational Retail.</a:t>
            </a:r>
          </a:p>
          <a:p>
            <a:pPr algn="just">
              <a:lnSpc>
                <a:spcPts val="4774"/>
              </a:lnSpc>
            </a:pPr>
          </a:p>
          <a:p>
            <a:pPr algn="just">
              <a:lnSpc>
                <a:spcPts val="4774"/>
              </a:lnSpc>
            </a:pPr>
            <a:r>
              <a:rPr lang="en-US" b="true" sz="3248" spc="6">
                <a:solidFill>
                  <a:srgbClr val="98BD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 </a:t>
            </a:r>
            <a:r>
              <a:rPr lang="en-US" b="true" sz="3248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Adopt a High-Volume/Competitive Pricing strategy in the recreational sector to offset the heavy tax burden.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4510" y="2241024"/>
            <a:ext cx="15218979" cy="6756551"/>
            <a:chOff x="0" y="0"/>
            <a:chExt cx="4008291" cy="1779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8291" cy="1779503"/>
            </a:xfrm>
            <a:custGeom>
              <a:avLst/>
              <a:gdLst/>
              <a:ahLst/>
              <a:cxnLst/>
              <a:rect r="r" b="b" t="t" l="l"/>
              <a:pathLst>
                <a:path h="1779503" w="4008291">
                  <a:moveTo>
                    <a:pt x="25944" y="0"/>
                  </a:moveTo>
                  <a:lnTo>
                    <a:pt x="3982347" y="0"/>
                  </a:lnTo>
                  <a:cubicBezTo>
                    <a:pt x="3996675" y="0"/>
                    <a:pt x="4008291" y="11615"/>
                    <a:pt x="4008291" y="25944"/>
                  </a:cubicBezTo>
                  <a:lnTo>
                    <a:pt x="4008291" y="1753559"/>
                  </a:lnTo>
                  <a:cubicBezTo>
                    <a:pt x="4008291" y="1767888"/>
                    <a:pt x="3996675" y="1779503"/>
                    <a:pt x="3982347" y="1779503"/>
                  </a:cubicBezTo>
                  <a:lnTo>
                    <a:pt x="25944" y="1779503"/>
                  </a:lnTo>
                  <a:cubicBezTo>
                    <a:pt x="11615" y="1779503"/>
                    <a:pt x="0" y="1767888"/>
                    <a:pt x="0" y="1753559"/>
                  </a:cubicBezTo>
                  <a:lnTo>
                    <a:pt x="0" y="25944"/>
                  </a:lnTo>
                  <a:cubicBezTo>
                    <a:pt x="0" y="11615"/>
                    <a:pt x="11615" y="0"/>
                    <a:pt x="259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08291" cy="1817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24599" y="750502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721" y="752715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6344" y="752715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9929" y="750502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62422" y="764137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24922" y="4224207"/>
            <a:ext cx="12038156" cy="16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35"/>
              </a:lnSpc>
              <a:spcBef>
                <a:spcPct val="0"/>
              </a:spcBef>
            </a:pPr>
            <a:r>
              <a:rPr lang="en-US" b="true" sz="9739" spc="-59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 bot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976280" y="2614658"/>
            <a:ext cx="1207432" cy="120743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5218" y="7087074"/>
            <a:ext cx="1207432" cy="12074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352" y="523219"/>
            <a:ext cx="1919429" cy="711193"/>
          </a:xfrm>
          <a:custGeom>
            <a:avLst/>
            <a:gdLst/>
            <a:ahLst/>
            <a:cxnLst/>
            <a:rect r="r" b="b" t="t" l="l"/>
            <a:pathLst>
              <a:path h="711193" w="1919429">
                <a:moveTo>
                  <a:pt x="0" y="0"/>
                </a:moveTo>
                <a:lnTo>
                  <a:pt x="1919429" y="0"/>
                </a:lnTo>
                <a:lnTo>
                  <a:pt x="1919429" y="711193"/>
                </a:lnTo>
                <a:lnTo>
                  <a:pt x="0" y="711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4599" y="712402"/>
            <a:ext cx="166255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721" y="714615"/>
            <a:ext cx="1907082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6344" y="714615"/>
            <a:ext cx="1589190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9929" y="712402"/>
            <a:ext cx="222497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b="true" sz="205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2422" y="735562"/>
            <a:ext cx="1421291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37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01626" y="5722011"/>
            <a:ext cx="8407526" cy="3549578"/>
          </a:xfrm>
          <a:custGeom>
            <a:avLst/>
            <a:gdLst/>
            <a:ahLst/>
            <a:cxnLst/>
            <a:rect r="r" b="b" t="t" l="l"/>
            <a:pathLst>
              <a:path h="3549578" w="8407526">
                <a:moveTo>
                  <a:pt x="0" y="0"/>
                </a:moveTo>
                <a:lnTo>
                  <a:pt x="8407526" y="0"/>
                </a:lnTo>
                <a:lnTo>
                  <a:pt x="8407526" y="3549578"/>
                </a:lnTo>
                <a:lnTo>
                  <a:pt x="0" y="3549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80872" y="5807989"/>
            <a:ext cx="5820133" cy="314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25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1- Mohmed Salah</a:t>
            </a:r>
          </a:p>
          <a:p>
            <a:pPr algn="l">
              <a:lnSpc>
                <a:spcPts val="4788"/>
              </a:lnSpc>
            </a:pPr>
            <a:r>
              <a:rPr lang="en-US" sz="25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2- Mostafa Ashraf Said</a:t>
            </a:r>
          </a:p>
          <a:p>
            <a:pPr algn="l">
              <a:lnSpc>
                <a:spcPts val="4788"/>
              </a:lnSpc>
            </a:pPr>
            <a:r>
              <a:rPr lang="en-US" sz="25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3- Mostafa mohamed </a:t>
            </a:r>
          </a:p>
          <a:p>
            <a:pPr algn="l">
              <a:lnSpc>
                <a:spcPts val="4788"/>
              </a:lnSpc>
            </a:pPr>
            <a:r>
              <a:rPr lang="en-US" sz="25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4- Omar Ashraf Abushosha</a:t>
            </a:r>
          </a:p>
          <a:p>
            <a:pPr algn="l">
              <a:lnSpc>
                <a:spcPts val="4788"/>
              </a:lnSpc>
            </a:pPr>
            <a:r>
              <a:rPr lang="en-US" sz="25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5- Mahmoud Ayman Ahmed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2110" y="2098567"/>
            <a:ext cx="11848468" cy="259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4"/>
              </a:lnSpc>
            </a:pPr>
            <a:r>
              <a:rPr lang="en-US" b="true" sz="13688" spc="-8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3070" y="5040410"/>
            <a:ext cx="10306548" cy="8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b="true" sz="27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Prepared By:</a:t>
            </a:r>
          </a:p>
          <a:p>
            <a:pPr algn="ctr">
              <a:lnSpc>
                <a:spcPts val="3303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509669" y="2242854"/>
            <a:ext cx="1601696" cy="1610481"/>
          </a:xfrm>
          <a:custGeom>
            <a:avLst/>
            <a:gdLst/>
            <a:ahLst/>
            <a:cxnLst/>
            <a:rect r="r" b="b" t="t" l="l"/>
            <a:pathLst>
              <a:path h="1610481" w="1601696">
                <a:moveTo>
                  <a:pt x="1601696" y="0"/>
                </a:moveTo>
                <a:lnTo>
                  <a:pt x="0" y="0"/>
                </a:lnTo>
                <a:lnTo>
                  <a:pt x="0" y="1610481"/>
                </a:lnTo>
                <a:lnTo>
                  <a:pt x="1601696" y="1610481"/>
                </a:lnTo>
                <a:lnTo>
                  <a:pt x="16016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494284" y="2242854"/>
            <a:ext cx="1601696" cy="1610481"/>
          </a:xfrm>
          <a:custGeom>
            <a:avLst/>
            <a:gdLst/>
            <a:ahLst/>
            <a:cxnLst/>
            <a:rect r="r" b="b" t="t" l="l"/>
            <a:pathLst>
              <a:path h="1610481" w="1601696">
                <a:moveTo>
                  <a:pt x="1601696" y="0"/>
                </a:moveTo>
                <a:lnTo>
                  <a:pt x="0" y="0"/>
                </a:lnTo>
                <a:lnTo>
                  <a:pt x="0" y="1610481"/>
                </a:lnTo>
                <a:lnTo>
                  <a:pt x="1601696" y="1610481"/>
                </a:lnTo>
                <a:lnTo>
                  <a:pt x="16016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6556229" y="8387665"/>
            <a:ext cx="1731771" cy="1741269"/>
          </a:xfrm>
          <a:custGeom>
            <a:avLst/>
            <a:gdLst/>
            <a:ahLst/>
            <a:cxnLst/>
            <a:rect r="r" b="b" t="t" l="l"/>
            <a:pathLst>
              <a:path h="1741269" w="1731771">
                <a:moveTo>
                  <a:pt x="1731771" y="0"/>
                </a:moveTo>
                <a:lnTo>
                  <a:pt x="0" y="0"/>
                </a:lnTo>
                <a:lnTo>
                  <a:pt x="0" y="1741269"/>
                </a:lnTo>
                <a:lnTo>
                  <a:pt x="1731771" y="1741269"/>
                </a:lnTo>
                <a:lnTo>
                  <a:pt x="17317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5458384" y="8387665"/>
            <a:ext cx="1731771" cy="1741269"/>
          </a:xfrm>
          <a:custGeom>
            <a:avLst/>
            <a:gdLst/>
            <a:ahLst/>
            <a:cxnLst/>
            <a:rect r="r" b="b" t="t" l="l"/>
            <a:pathLst>
              <a:path h="1741269" w="1731771">
                <a:moveTo>
                  <a:pt x="1731771" y="0"/>
                </a:moveTo>
                <a:lnTo>
                  <a:pt x="0" y="0"/>
                </a:lnTo>
                <a:lnTo>
                  <a:pt x="0" y="1741269"/>
                </a:lnTo>
                <a:lnTo>
                  <a:pt x="1731771" y="1741269"/>
                </a:lnTo>
                <a:lnTo>
                  <a:pt x="17317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9669" y="6434594"/>
            <a:ext cx="1107412" cy="1107412"/>
          </a:xfrm>
          <a:custGeom>
            <a:avLst/>
            <a:gdLst/>
            <a:ahLst/>
            <a:cxnLst/>
            <a:rect r="r" b="b" t="t" l="l"/>
            <a:pathLst>
              <a:path h="1107412" w="1107412">
                <a:moveTo>
                  <a:pt x="0" y="0"/>
                </a:moveTo>
                <a:lnTo>
                  <a:pt x="1107412" y="0"/>
                </a:lnTo>
                <a:lnTo>
                  <a:pt x="1107412" y="1107412"/>
                </a:lnTo>
                <a:lnTo>
                  <a:pt x="0" y="11074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51868" y="2591558"/>
            <a:ext cx="1060252" cy="1060252"/>
          </a:xfrm>
          <a:custGeom>
            <a:avLst/>
            <a:gdLst/>
            <a:ahLst/>
            <a:cxnLst/>
            <a:rect r="r" b="b" t="t" l="l"/>
            <a:pathLst>
              <a:path h="1060252" w="1060252">
                <a:moveTo>
                  <a:pt x="0" y="0"/>
                </a:moveTo>
                <a:lnTo>
                  <a:pt x="1060252" y="0"/>
                </a:lnTo>
                <a:lnTo>
                  <a:pt x="1060252" y="1060252"/>
                </a:lnTo>
                <a:lnTo>
                  <a:pt x="0" y="10602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98174" y="129862"/>
            <a:ext cx="2055748" cy="1797676"/>
            <a:chOff x="0" y="0"/>
            <a:chExt cx="2740997" cy="23969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1041" cy="2396871"/>
            </a:xfrm>
            <a:custGeom>
              <a:avLst/>
              <a:gdLst/>
              <a:ahLst/>
              <a:cxnLst/>
              <a:rect r="r" b="b" t="t" l="l"/>
              <a:pathLst>
                <a:path h="2396871" w="2741041">
                  <a:moveTo>
                    <a:pt x="0" y="0"/>
                  </a:moveTo>
                  <a:lnTo>
                    <a:pt x="2741041" y="0"/>
                  </a:lnTo>
                  <a:lnTo>
                    <a:pt x="2741041" y="2396871"/>
                  </a:lnTo>
                  <a:lnTo>
                    <a:pt x="0" y="2396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51000"/>
              </a:blip>
              <a:stretch>
                <a:fillRect l="-28076" t="0" r="-28075" b="-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DAG50Ibn5f4</dc:identifier>
  <dcterms:modified xsi:type="dcterms:W3CDTF">2011-08-01T06:04:30Z</dcterms:modified>
  <cp:revision>1</cp:revision>
  <dc:title>DEPI FINAL (1).pptx</dc:title>
</cp:coreProperties>
</file>